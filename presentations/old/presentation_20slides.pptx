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Slide 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CHSH Inequality: Foundation for QKD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1600">
                <a:solidFill>
                  <a:srgbClr val="38BDF8"/>
                </a:solidFill>
              </a:defRPr>
            </a:pPr>
            <a:r>
              <a:t>S = ⟨AB⟩ + ⟨AB'⟩ + ⟨A'B⟩ - ⟨A'B'⟩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Classical:S ≤ 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Quantum:S &gt; 2 (max 2√2 ≈ 2.828) → Secure QKD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Why CHSH Dominates QKD Industry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Experimental robustness:Tolerates detector imperfections (vs Bell's perfect correlation requirement)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Self-testing capability:Simultaneously verifies quantum state + detects eavesdropping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Device-independent security:If S &gt; 2, no eavesdropper has complete key information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Industry standard:Metro QKD networks, commercial implementations worldwide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The Critical Security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⚠ The Paradox:CHSH provides mathematical security, but real implementations rely on RNGs susceptible to side-channel attacks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⚠ RNG Entropy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Multi-Method ML Benchmarking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🎯 Comparative Analysis:Three independent ML approaches tested on N=3 IBMQ simulators, validated on N=30 synthetic devices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How It Works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Detection Capability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Analyze entropy patterns in RNG output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Correlate with hardware metrics (fidelity)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Compare Bell correlation across platforms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Extract statistical fingerprints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Classify RNG sources by noise profiles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Detect hardware-induced biases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Multi-modal distributional analysis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Distinguish similar noise characteristics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Experimental Methodology &amp; 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Hardware Platforms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Dataset &amp; Features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Multi-Method Benchmarking Approach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Rigetti Aspen-M-3(80 qubits)Bell Correlation: 0.8036 | Gate Fidelity: 93.6%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IonQ Aria-1(25 qubits)Bell Correlation: 0.8362 | Gate Fidelity: 99.4%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IBM Qiskit(Simulation)Bell Correlation: 1.0 | Gate Fidelity: 100%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6,000 samples(2,000 per device)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100-bit entropy profiles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3 noise-injected simulators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DoraHacks YQuantum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Quantitative Analysis: Bit Frequency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Device 1 (Low Bias):'1' freq:54.8%Entropy:0.986 bits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Device 2 (Medium Bias):'1' freq:56.5%Entropy:0.979 bits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Device 3 (High Bias):'1' freq:59.2%Entropy:0.992 bits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Markov Chain Transition Matrices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🔍 Key Finding:Device-specific biases in bit transitions create exploitable fingerprints for ML 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Machine Learning 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📊 N=30 Validation Evidence:Neural Network achieves 59% accuracy (p&lt;10⁻⁹), 77% above random baseline (33.3%). Confusion matrix shows balanced performance across 3 bias classes. Original N=3 results replicate at scale with proper statistical power (df=28).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Panel A: Confusion Matrix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Panel B: Method Comparison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Overall accuracy:59%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Balanced across 3 classes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Test set performance (p&lt;10⁻⁹)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NN: 59% vs LR: 60%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80% above random (33.3%)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Simple models effective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Neural Network Architecture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🔬 Key Insights:•Batch Size Impact:Batch=8 outperforms Batch=4 by 4.67 points•Training Duration:1000 epochs necessary for convergence•Architecture:Wider first layer (30 neurons) captures more features•Regularization:L1 (λ=0.002) provides best sparse feature selection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Per-Device Classification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📊 Key Finding:Device 3 is most "random" (entropy=0.992) yeteasiest to classify(70% accuracy) → High entropy doesn't guarantee undetectability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qGAN Distributional Analysis: Device Distinguishability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11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🔬 Statistical Validation:KL divergence between-class (mean=1.60) vs within-class (mean=0.08) significantly differ (p &lt; 10⁻⁶⁰) → qGAN tournament successfully distinguishes RNG quality with strong correlation to classification accuracy (r=0.865, p&lt;10⁻⁹)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KL Divergence Results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Cross-Method Validation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Device 1 vs 3:0.205 (most distinguishable)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Device 2 vs 3:0.202 (highly distinguishable)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Device 1 vs 2:0.050 (difficult to distinguish)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Pearson correlation:r = 0.865 (p &lt; 10⁻⁹)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Validated on N=30 devices(df=28, highly significant)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Both qGAN KL and NN accuracy converge on Device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Proposed DI-QKD Vulnerability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12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⚠️ Critical Finding:CHSH-based DI-QKD assumes RNG security, but ML can fingerprint certified QRNGs → Basis prediction enables key extraction → Continuous entropy monitoring required for true device independence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🎯 Attack Methodology: Compromising Device-Independent Security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✓ Validated Technical Foundation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Passive monitoring:Collect RNG output during normal QKD operation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ML fingerprinting:Classify device at 59% accuracy (80% above random)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Bias detection:Identify 59% vs 54% '1' frequency threshold (exploitable)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Temporal patterns:Extract Markov transitions P(1→1) = 0.508-0.592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Environmental correlation:Monitor temperature/gate fidelity drift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CHSH degradation:Track deviation from ideal S=2√2 to exploitable S&lt;2.2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Basis inference:Use RNG bias to predict Alice/Bob measurement settings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Side-channel extraction:Combine entropy deviation + hardware signatures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Multi-modal validation:qGAN-NN correlation r=0.865 (N=30, p&lt;10⁻⁹) + between-class KL 20× higher (p&lt;10⁻⁶⁰)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Hardware correlation:Gate fidelity → CHSH score → RNG quality (R²=0.977 across Rigetti/IonQ/IBM)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Attack detection:Real-time entropy monitoring identifies CHSH&lt;2.2 + bias&gt;59% as exploit threshold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DI-QKD vulnerability:Basis selection randomness is foundational assumption—compromise breaks device independence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Hardware Platform CHSH Correlation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13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📊 Critical Finding:R² = 0.977 correlation between gate fidelity and Bell correlation coefficient → Gate fidelity predicts certifiable randomness quality → Lower correlation = higher noise = exploitable RNG vulnerabilities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Statistical Significance &amp; Correlation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14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🎯 Validated Result (N=30):ML models exploit statistical differences invisible to NIST testsAll devices pass χ² test (χ² &lt; 3.841), yet achieve 59% classification (validated N=30: p&lt;10⁻⁹). qGAN KL divergence and NN accuracy show r=0.865 correlation. Between-class devices 20× more distinguishable than within-class (p&lt;10⁻⁶⁰)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Correlation Evidence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Statistical Power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Pearson r = 0.865(p&lt;10⁻⁹)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Spearman ρ = 0.931(p&lt;10⁻¹⁴)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95% confidence interval shown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Homoscedastic residuals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N=30 devices(df=28)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p &lt; 0.01all comparisons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Mann-Whitney U: p&lt;10⁻⁶⁰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20× between vs within-class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Proposed Attack Detection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15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💡 Proposed Application:Real-time statistical monitoring to detect RNG quality degradation → Early warning system for quantum networks (validation required on 50+ devices)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✓ High-Quality RNG Profile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⚠️ Degraded RNG Profile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Attack Type Signatures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Bell correlation ≥ 0.8(high quantum fidelity)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Entropy ~0.99bits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KL divergence stable(~3.7)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Bit frequency50% ± 2%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Correlation degrades(noise increases)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Entropy deviation&gt; 5%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KL divergence spikes(&gt;17)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Bias emerges:59% '1' freq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Proposed Application: Metro QKD Security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16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✓ Method Validated59%(N=30 synthetic, p&lt;10⁻⁹)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✓ Distinguishability20×(between vs within-class)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Metro QKD monitoring requires: (1) validation on 50+production QKD RNGs(not synthetic), (2) long-term drift monitoring inreal networks, (3) demonstration of actual key leakage detection (gap between statistical patterns and security exploitation not bridged)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Validated Methods (Synthetic Data)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RNG fingerprinting at 59% accuracy (80% above random, p&lt;10⁻⁹)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qGAN tournament distinguishes device classes (r=0.865, p&lt;10⁻⁹)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Statistical signatures detectable despite passing NIST tests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Bridging Theory &amp; Engineering Reality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17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The Fundamental Gap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Continuous RNG validation (not one-time)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Environmental factor monitoring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Hardware drift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Real-time attack identification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Photonic &amp; topological qubits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Long-term degradation studies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Quantum ML for detection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NIST/ISO standards development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Comprehensive Validation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18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 tIns="127000" lIns="127000" rIns="127000">
            <a:spAutoFit/>
          </a:bodyPr>
          <a:lstStyle/>
          <a:p>
            <a:pPr>
              <a:defRPr sz="4400" b="1">
                <a:solidFill>
                  <a:srgbClr val="F1F5F9"/>
                </a:solidFill>
              </a:defRPr>
            </a:pPr>
            <a:r>
              <a:t>Conclusions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0"/>
          </a:xfrm>
          <a:prstGeom prst="rect">
            <a:avLst/>
          </a:prstGeom>
          <a:ln w="381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4A3B8"/>
                </a:solidFill>
              </a:defRPr>
            </a:pPr>
            <a:r>
              <a:t>19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🎯 Impact:ML-based statistical fingerprinting successfully distinguishes quantum noise profiles → N=30 validation complete; next step: real QPU hardware testing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400">
                <a:solidFill>
                  <a:srgbClr val="CBD5E1"/>
                </a:solidFill>
              </a:defRPr>
            </a:pPr>
            <a:r>
              <a:t>⚠ Critical Gap:Detecting statistical patterns ≠ Exploiting patterns for QKD attacks. Demonstrating actual key leakage in production systems remains unvalidated.</a:t>
            </a:r>
          </a:p>
          <a:p>
            <a:pPr>
              <a:spcBef>
                <a:spcPts val="1000"/>
              </a:spcBef>
              <a:spcAft>
                <a:spcPts val="800"/>
              </a:spcAft>
              <a:defRPr sz="1600" b="1">
                <a:solidFill>
                  <a:srgbClr val="38BDF8"/>
                </a:solidFill>
              </a:defRPr>
            </a:pPr>
            <a:r>
              <a:t>Key Contributions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Device Fingerprinting (N=30 Validated):73.2% balanced accuracy distinguishing synthetic noise profiles (120% above baseline) - validated with r=0.865, p&lt;10⁻⁹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Multi-Method Consistency (Validated):Three independent approaches (qGAN KL tournament, LR 71.8%, NN 73.2%) with ρ=0.931 Spearman correlation (p&lt;10⁻¹⁴)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qGAN Tournament Framework:20× distinguishability (p&lt;10⁻⁶⁰) between device classes - within-class KL divergence 0.077±0.07 vs between-class 1.60±1.12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Scalability Demonstrated:N=3 baseline → N=30 validation confirms all metrics replicate at scale with strong statistical significance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CBD5E1"/>
                </a:solidFill>
              </a:defRPr>
            </a:pPr>
            <a:r>
              <a:t>Proposed Application:Framework validated on synthetic data;requires testing on real quantum hardware and certified RNG devices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